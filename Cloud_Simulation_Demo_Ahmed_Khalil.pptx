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38BDF8"/>
                </a:solidFill>
              </a:defRPr>
            </a:pPr>
            <a:r>
              <a:t>Cloud Simulation &amp; Software Validation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F1F5F9"/>
                </a:solidFill>
              </a:defRPr>
            </a:pPr>
            <a:r>
              <a:t>Ahmed Firas Mahmoud Khalil</a:t>
            </a:r>
          </a:p>
          <a:p>
            <a:r>
              <a:t>Student ID: U23LYAZ801</a:t>
            </a:r>
          </a:p>
          <a:p>
            <a:r>
              <a:t>Course: Software Validation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8BDF8"/>
                </a:solidFill>
              </a:defRPr>
            </a:pPr>
            <a:r>
              <a:t>Project Concept: The Local 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it? A complete AWS environment running on a single laptop.</a:t>
            </a:r>
          </a:p>
          <a:p>
            <a:pPr>
              <a:defRPr>
                <a:solidFill>
                  <a:srgbClr val="F1F5F9"/>
                </a:solidFill>
              </a:defRPr>
            </a:pPr>
            <a:r>
              <a:t>The Challenge: Real cloud testing is slow and expensive.</a:t>
            </a:r>
          </a:p>
          <a:p>
            <a:pPr>
              <a:defRPr>
                <a:solidFill>
                  <a:srgbClr val="F1F5F9"/>
                </a:solidFill>
              </a:defRPr>
            </a:pPr>
            <a:r>
              <a:t>The Solution: LocalStack &amp; Docker create a 'Magic Box' simulation.</a:t>
            </a:r>
          </a:p>
          <a:p>
            <a:pPr>
              <a:defRPr>
                <a:solidFill>
                  <a:srgbClr val="F1F5F9"/>
                </a:solidFill>
              </a:defRPr>
            </a:pPr>
            <a:r>
              <a:t>Goal: Validate cloud-native code before it ever touches the internet.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8BDF8"/>
                </a:solidFill>
              </a:defRPr>
            </a:pPr>
            <a:r>
              <a:t>Infrastructure: Docker &amp; LocalStack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Docker: Creates isolated 'Kernel-Level' slices of your computer.</a:t>
            </a:r>
          </a:p>
          <a:p>
            <a:pPr>
              <a:defRPr>
                <a:solidFill>
                  <a:srgbClr val="F1F5F9"/>
                </a:solidFill>
              </a:defRPr>
            </a:pPr>
            <a:r>
              <a:t>LocalStack: A high-fidelity emulator for AWS services.</a:t>
            </a:r>
          </a:p>
          <a:p>
            <a:pPr>
              <a:defRPr>
                <a:solidFill>
                  <a:srgbClr val="F1F5F9"/>
                </a:solidFill>
              </a:defRPr>
            </a:pPr>
            <a:r>
              <a:t>Port 4566: The 'Tunnel' connecting the outside world to the Magic Box.</a:t>
            </a:r>
          </a:p>
          <a:p>
            <a:pPr>
              <a:defRPr>
                <a:solidFill>
                  <a:srgbClr val="F1F5F9"/>
                </a:solidFill>
              </a:defRPr>
            </a:pPr>
            <a:r>
              <a:t>Status: 100% Offline, Zero Cost, High Confidence.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8BDF8"/>
                </a:solidFill>
              </a:defRPr>
            </a:pPr>
            <a:r>
              <a:t>Meet the Characters (AWS Services)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S3 (Simple Storage Service): Programmable Object Storage.</a:t>
            </a:r>
          </a:p>
          <a:p>
            <a:pPr>
              <a:defRPr>
                <a:solidFill>
                  <a:srgbClr val="F1F5F9"/>
                </a:solidFill>
              </a:defRPr>
            </a:pPr>
            <a:r>
              <a:t>Lambda (Compute): Event-driven workers that sleep until needed.</a:t>
            </a:r>
          </a:p>
          <a:p>
            <a:pPr>
              <a:defRPr>
                <a:solidFill>
                  <a:srgbClr val="F1F5F9"/>
                </a:solidFill>
              </a:defRPr>
            </a:pPr>
            <a:r>
              <a:t>CloudWatch (Logging): The digital logbook recording every action.</a:t>
            </a:r>
          </a:p>
          <a:p>
            <a:pPr>
              <a:defRPr>
                <a:solidFill>
                  <a:srgbClr val="F1F5F9"/>
                </a:solidFill>
              </a:defRPr>
            </a:pPr>
            <a:r>
              <a:t>Interaction: These services work together in a 'reactive' chain.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8BDF8"/>
                </a:solidFill>
              </a:defRPr>
            </a:pPr>
            <a:r>
              <a:t>System Flow Chart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286000"/>
            <a:ext cx="1828800" cy="914400"/>
          </a:xfrm>
          <a:prstGeom prst="rect">
            <a:avLst/>
          </a:prstGeom>
          <a:solidFill>
            <a:srgbClr val="0F172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F1F5F9"/>
                </a:solidFill>
              </a:defRPr>
            </a:pPr>
            <a:r>
              <a:t>React UI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2286000"/>
            <a:ext cx="1828800" cy="914400"/>
          </a:xfrm>
          <a:prstGeom prst="rect">
            <a:avLst/>
          </a:prstGeom>
          <a:solidFill>
            <a:srgbClr val="0F172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F1F5F9"/>
                </a:solidFill>
              </a:defRPr>
            </a:pPr>
            <a:r>
              <a:t>S3 Bucket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286000"/>
            <a:ext cx="1828800" cy="914400"/>
          </a:xfrm>
          <a:prstGeom prst="rect">
            <a:avLst/>
          </a:prstGeom>
          <a:solidFill>
            <a:srgbClr val="0F172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F1F5F9"/>
                </a:solidFill>
              </a:defRPr>
            </a:pPr>
            <a:r>
              <a:t>Lambda Worker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2286000"/>
            <a:ext cx="1828800" cy="914400"/>
          </a:xfrm>
          <a:prstGeom prst="rect">
            <a:avLst/>
          </a:prstGeom>
          <a:solidFill>
            <a:srgbClr val="0F172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F1F5F9"/>
                </a:solidFill>
              </a:defRPr>
            </a:pPr>
            <a:r>
              <a:t>CloudWatch Logs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286000" y="2560320"/>
            <a:ext cx="457200" cy="365760"/>
          </a:xfrm>
          <a:prstGeom prst="rightArrow">
            <a:avLst/>
          </a:prstGeom>
          <a:solidFill>
            <a:srgbClr val="38BD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4572000" y="2560320"/>
            <a:ext cx="457200" cy="365760"/>
          </a:xfrm>
          <a:prstGeom prst="rightArrow">
            <a:avLst/>
          </a:prstGeom>
          <a:solidFill>
            <a:srgbClr val="38BD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6858000" y="2560320"/>
            <a:ext cx="457200" cy="365760"/>
          </a:xfrm>
          <a:prstGeom prst="rightArrow">
            <a:avLst/>
          </a:prstGeom>
          <a:solidFill>
            <a:srgbClr val="38BD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8BDF8"/>
                </a:solidFill>
              </a:defRPr>
            </a:pPr>
            <a:r>
              <a:t>The Dashboard: React Frontend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 with Vite for ultra-fast development.</a:t>
            </a:r>
          </a:p>
          <a:p>
            <a:pPr>
              <a:defRPr>
                <a:solidFill>
                  <a:srgbClr val="F1F5F9"/>
                </a:solidFill>
              </a:defRPr>
            </a:pPr>
            <a:r>
              <a:t>Uses AWS SDK v3 to communicate via the 4566 Tunnel.</a:t>
            </a:r>
          </a:p>
          <a:p>
            <a:pPr>
              <a:defRPr>
                <a:solidFill>
                  <a:srgbClr val="F1F5F9"/>
                </a:solidFill>
              </a:defRPr>
            </a:pPr>
            <a:r>
              <a:t>State Machine: Tracks 'Idle', 'Uploading', and 'Success' status.</a:t>
            </a:r>
          </a:p>
          <a:p>
            <a:pPr>
              <a:defRPr>
                <a:solidFill>
                  <a:srgbClr val="F1F5F9"/>
                </a:solidFill>
              </a:defRPr>
            </a:pPr>
            <a:r>
              <a:t>Vanilla CSS: Custom dark-mode theme for premium aesthetics.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8BDF8"/>
                </a:solidFill>
              </a:defRPr>
            </a:pPr>
            <a:r>
              <a:t>Software Validation: The Auditor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Playwright: A browser automation framework.</a:t>
            </a:r>
          </a:p>
          <a:p>
            <a:pPr>
              <a:defRPr>
                <a:solidFill>
                  <a:srgbClr val="F1F5F9"/>
                </a:solidFill>
              </a:defRPr>
            </a:pPr>
            <a:r>
              <a:t>Audit Flow: Upload file -&gt; Interrogate API -&gt; Check Logs.</a:t>
            </a:r>
          </a:p>
          <a:p>
            <a:pPr>
              <a:defRPr>
                <a:solidFill>
                  <a:srgbClr val="F1F5F9"/>
                </a:solidFill>
              </a:defRPr>
            </a:pPr>
            <a:r>
              <a:t>Proof: If the S3 file exists AND the log matches, validation passes.</a:t>
            </a:r>
          </a:p>
          <a:p>
            <a:pPr>
              <a:defRPr>
                <a:solidFill>
                  <a:srgbClr val="F1F5F9"/>
                </a:solidFill>
              </a:defRPr>
            </a:pPr>
            <a:r>
              <a:t>Benefit: Prevents 'Environment Drift' and configuration bugs.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8BDF8"/>
                </a:solidFill>
              </a:defRPr>
            </a:pPr>
            <a:r>
              <a:t>File-by-File Breakdown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029200"/>
              </a:tblGrid>
              <a:tr h="6096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File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docker-compose.yml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Starts the Magic Box (Infrastructure)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serverless.yml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The Blueprint for cloud resources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App.jsx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Frontend Dashboard &amp; SDK logic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handler.js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Lambda script (The Brains)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upload.spec.js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The Playwright Robot Auditor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8BDF8"/>
                </a:solidFill>
              </a:defRPr>
            </a:pPr>
            <a:r>
              <a:t>Final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Automated: One-command deployment and testing.</a:t>
            </a:r>
          </a:p>
          <a:p>
            <a:pPr>
              <a:defRPr>
                <a:solidFill>
                  <a:srgbClr val="F1F5F9"/>
                </a:solidFill>
              </a:defRPr>
            </a:pPr>
            <a:r>
              <a:t>Scalable: Ready to add more AWS services (SQS, SNS).</a:t>
            </a:r>
          </a:p>
          <a:p>
            <a:pPr>
              <a:defRPr>
                <a:solidFill>
                  <a:srgbClr val="F1F5F9"/>
                </a:solidFill>
              </a:defRPr>
            </a:pPr>
            <a:r>
              <a:t>Professional: Developed by Ahmed Firas Mahmoud Khalil.</a:t>
            </a:r>
          </a:p>
          <a:p>
            <a:pPr>
              <a:defRPr>
                <a:solidFill>
                  <a:srgbClr val="F1F5F9"/>
                </a:solidFill>
              </a:defRPr>
            </a:pPr>
            <a:r>
              <a:t>Conclusion: Validated software is reliable software.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